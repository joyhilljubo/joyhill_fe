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371600"/>
            <a:ext cx="64008" cy="237744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188720"/>
            <a:ext cx="1828800" cy="1828800"/>
          </a:xfrm>
          <a:prstGeom prst="ellipse">
            <a:avLst/>
          </a:prstGeom>
          <a:solidFill>
            <a:srgbClr val="4285F4">
              <a:alpha val="80000"/>
            </a:srgbClr>
          </a:solidFill>
          <a:ln w="25400">
            <a:solidFill>
              <a:srgbClr val="4285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0" y="1554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0" y="2148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37160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JOY HILL 앱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 가이드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리더 · 마을장 · 교역자를 위한 기능 안내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389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4월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960620"/>
            <a:ext cx="2286000" cy="18288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4960620"/>
            <a:ext cx="2286000" cy="18288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4960620"/>
            <a:ext cx="2286000" cy="182880"/>
          </a:xfrm>
          <a:prstGeom prst="rect">
            <a:avLst/>
          </a:prstGeom>
          <a:solidFill>
            <a:srgbClr val="F9AB00"/>
          </a:solidFill>
          <a:ln w="12700">
            <a:solidFill>
              <a:srgbClr val="F9AB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4960620"/>
            <a:ext cx="2286000" cy="18288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앱 구조 &amp; 역할 소개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1920240" cy="10058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B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팸원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645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멤버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0" y="1600200"/>
            <a:ext cx="5029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1097280"/>
            <a:ext cx="1920240" cy="100584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리더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423160" y="1645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팸 관리자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600200"/>
            <a:ext cx="5029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097280"/>
            <a:ext cx="1920240" cy="1005840"/>
          </a:xfrm>
          <a:prstGeom prst="rect">
            <a:avLst/>
          </a:prstGeom>
          <a:solidFill>
            <a:srgbClr val="1A6B38"/>
          </a:solidFill>
          <a:ln w="12700">
            <a:solidFill>
              <a:srgbClr val="1A6B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80560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마을장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480560" y="1645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마을 관리자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1600200"/>
            <a:ext cx="5029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7960" y="1097280"/>
            <a:ext cx="192024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37960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교역자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37960" y="1645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관리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377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조직 구조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64008" cy="36576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8346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21개 팸 → 4개 마을 (복진이네 / 주현이네 / 세찬이네 / 성인이네)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64008" cy="36576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429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8개 사역팀 (POB찬양 / 예배 / 함기 / 함성 / 새가족 / 미디어 / LAB / 큐티)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8229600" cy="777240"/>
          </a:xfrm>
          <a:prstGeom prst="rect">
            <a:avLst/>
          </a:prstGeom>
          <a:solidFill>
            <a:srgbClr val="EBF2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2062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로그인: 전화번호 + 생년월일 6자리 (초기 비밀번호)   예) 000101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🏠  홈 화면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2651760" cy="2011680"/>
          </a:xfrm>
          <a:prstGeom prst="rect">
            <a:avLst/>
          </a:prstGeom>
          <a:solidFill>
            <a:srgbClr val="EBF2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📺  이번 주 설교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유튜브 링크로 바로 이동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제목 · 본문 · 날짜 표시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005840"/>
            <a:ext cx="2651760" cy="2011680"/>
          </a:xfrm>
          <a:prstGeom prst="rect">
            <a:avLst/>
          </a:prstGeom>
          <a:solidFill>
            <a:srgbClr val="E8F5E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0972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공지사항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29000" y="16459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최신 공지 미리보기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전체보기로 이동 가능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005840"/>
            <a:ext cx="2651760" cy="2011680"/>
          </a:xfrm>
          <a:prstGeom prst="rect">
            <a:avLst/>
          </a:prstGeom>
          <a:solidFill>
            <a:srgbClr val="FFF8E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0972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외부 링크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16459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청바지TV / Joyhillgram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온라인 주보 / 카카오톡 채널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3246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하단 탭 구성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" y="3749040"/>
            <a:ext cx="1554480" cy="91440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7947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🏠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11480" y="4206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103120" y="3749040"/>
            <a:ext cx="155448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03120" y="37947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📢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03120" y="4206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공지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794760" y="3749040"/>
            <a:ext cx="155448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94760" y="37947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794760" y="4206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출석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0" y="3749040"/>
            <a:ext cx="155448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37947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🙏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86400" y="4206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기도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178040" y="3749040"/>
            <a:ext cx="155448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78040" y="37947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178040" y="4206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출석 체크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84048" cy="384048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0789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하단 탭 '출석' 클릭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384048" cy="384048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7647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팸원 목록 확인 (전체 / 예배 / 팸모임 필터)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423160"/>
            <a:ext cx="384048" cy="384048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23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24505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예배 출석 ○ 체크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108960"/>
            <a:ext cx="384048" cy="384048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108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31363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팸모임 출석 ○ 체크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794760"/>
            <a:ext cx="384048" cy="384048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794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38221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'출석 저장하기' 버튼 클릭 → 완료!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0" y="960120"/>
            <a:ext cx="37490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12080" y="10515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출석 표시 방법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303520" y="1600200"/>
            <a:ext cx="347472" cy="347472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16184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예배 출석 ✓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03520" y="2240280"/>
            <a:ext cx="347472" cy="347472"/>
          </a:xfrm>
          <a:prstGeom prst="ellipse">
            <a:avLst/>
          </a:prstGeom>
          <a:solidFill>
            <a:srgbClr val="F9AB00"/>
          </a:solidFill>
          <a:ln w="12700">
            <a:solidFill>
              <a:srgbClr val="F9AB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22585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팸모임 출석 ✓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303520" y="2880360"/>
            <a:ext cx="347472" cy="347472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0" y="28986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결석 (미체크)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5760" y="4251960"/>
            <a:ext cx="8412480" cy="640080"/>
          </a:xfrm>
          <a:prstGeom prst="rect">
            <a:avLst/>
          </a:prstGeom>
          <a:solidFill>
            <a:srgbClr val="E8F5E9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325112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6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매주 출석을 저장하지 않으면 기록이 남지 않아요! 반드시 '출석 저장하기'를 눌러주세요.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📢  공지  &amp;  🙏  기도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3977640" cy="356616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3977640" cy="50292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공지사항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54864" cy="41148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002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카테고리 필터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/ 행사 / 안내 / 소식 / 모집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423160"/>
            <a:ext cx="54864" cy="41148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4231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6517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키워드로 공지 검색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246120"/>
            <a:ext cx="54864" cy="41148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461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공지 작성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34747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'+ 작성' 버튼 → 제목·내용·카테고리 입력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17720" y="960120"/>
            <a:ext cx="4114800" cy="356616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7720" y="960120"/>
            <a:ext cx="4114800" cy="502920"/>
          </a:xfrm>
          <a:prstGeom prst="rect">
            <a:avLst/>
          </a:prstGeom>
          <a:solidFill>
            <a:srgbClr val="7B66FF"/>
          </a:solidFill>
          <a:ln w="12700">
            <a:solidFill>
              <a:srgbClr val="7B6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기도제목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754880" y="1600200"/>
            <a:ext cx="54864" cy="548640"/>
          </a:xfrm>
          <a:prstGeom prst="rect">
            <a:avLst/>
          </a:prstGeom>
          <a:solidFill>
            <a:srgbClr val="7B66FF"/>
          </a:solidFill>
          <a:ln w="12700">
            <a:solidFill>
              <a:srgbClr val="7B6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600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팸 공동 기도제목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189280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리더가 작성 · 수정 가능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주차별 공동 기도제목 관리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697480"/>
            <a:ext cx="54864" cy="548640"/>
          </a:xfrm>
          <a:prstGeom prst="rect">
            <a:avLst/>
          </a:prstGeom>
          <a:solidFill>
            <a:srgbClr val="7B66FF"/>
          </a:solidFill>
          <a:ln w="12700">
            <a:solidFill>
              <a:srgbClr val="7B6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697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 기도제목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299008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본인이 직접 작성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팸원끼리 서로 볼 수 있음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200400"/>
            <a:ext cx="3749040" cy="1097280"/>
          </a:xfrm>
          <a:prstGeom prst="rect">
            <a:avLst/>
          </a:prstGeom>
          <a:solidFill>
            <a:srgbClr val="F3F0FF"/>
          </a:solidFill>
          <a:ln w="12700">
            <a:solidFill>
              <a:srgbClr val="7B66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2918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주차 선택 가능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'선택' 버튼으로 지난 주 기도제목도 확인 가능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9AB00"/>
          </a:solidFill>
          <a:ln w="12700">
            <a:solidFill>
              <a:srgbClr val="F9A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👤  MY 페이지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051560"/>
            <a:ext cx="777240" cy="777240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515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김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10789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홍길동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14173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홍길동팸 · 리더 · 함기팀, LAB팀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98080" y="1188720"/>
            <a:ext cx="1005840" cy="411480"/>
          </a:xfrm>
          <a:prstGeom prst="rect">
            <a:avLst/>
          </a:prstGeom>
          <a:solidFill>
            <a:srgbClr val="EBF2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0" y="11887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285F4"/>
                </a:solidFill>
              </a:rPr>
              <a:t>리더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14884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128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비밀번호 변경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비번 입력 후 새 비번 설정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2128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알림 설정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 알림 켜기/끄기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063240"/>
            <a:ext cx="832104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1272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내 사역팀 보기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344728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소속 사역팀 탭 전환 → 팀원별 이름 / 소속 팸 / 연락처 / 생년월일 / 역할 확인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4114800"/>
            <a:ext cx="8321040" cy="713232"/>
          </a:xfrm>
          <a:prstGeom prst="rect">
            <a:avLst/>
          </a:prstGeom>
          <a:solidFill>
            <a:srgbClr val="FFF0F0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22452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🚪  로그아웃은 MY 페이지 하단에서 가능합니다.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1463040" cy="347472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리더 전용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03120" y="201168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내 팸 관리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경로:  MY  →  팸 관리  →  내 팸 관리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2743200" cy="1920240"/>
          </a:xfrm>
          <a:prstGeom prst="rect">
            <a:avLst/>
          </a:prstGeom>
          <a:solidFill>
            <a:srgbClr val="EBF2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417320"/>
            <a:ext cx="2743200" cy="73152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544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팸원 목록 확인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0116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 · 연락처 표시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팸 전체 인원 한눈에 파악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417320"/>
            <a:ext cx="2743200" cy="1920240"/>
          </a:xfrm>
          <a:prstGeom prst="rect">
            <a:avLst/>
          </a:prstGeom>
          <a:solidFill>
            <a:srgbClr val="E8F5E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417320"/>
            <a:ext cx="2743200" cy="73152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5544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팸원 상세 정보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20116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 / 전화번호 / 생년월일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확인 / 메모 입력 및 저장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417320"/>
            <a:ext cx="2743200" cy="1920240"/>
          </a:xfrm>
          <a:prstGeom prst="rect">
            <a:avLst/>
          </a:prstGeom>
          <a:solidFill>
            <a:srgbClr val="FFF8E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417320"/>
            <a:ext cx="2743200" cy="73152"/>
          </a:xfrm>
          <a:prstGeom prst="rect">
            <a:avLst/>
          </a:prstGeom>
          <a:solidFill>
            <a:srgbClr val="F9AB00"/>
          </a:solidFill>
          <a:ln w="12700">
            <a:solidFill>
              <a:srgbClr val="F9AB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5544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팸원 추가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20116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'+ 추가' 버튼으로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팸원 등록 가능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520440"/>
            <a:ext cx="841248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6118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주의사항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00507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역할 변경(팸원 → 리더 → 마을장)은 마을장 이상만 가능합니다.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38912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기존 팸원의 팸 이동은 현재 지원되지 않습니다 (교역자에게 문의).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384048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리더 전용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201168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 출석 관리 &amp; 통계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4114800" cy="50292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05840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출석 이력표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5361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경로:  MY → 팸 관리 → 출석 관리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938528"/>
            <a:ext cx="256032" cy="256032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9202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단위로 팸원 전체 출결 한눈에 확인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532888"/>
            <a:ext cx="256032" cy="256032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5146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주차별 예배 / 팸 출석 현황 표시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127248"/>
            <a:ext cx="256032" cy="256032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1089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선택 드롭다운으로 지난 달 조회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721608"/>
            <a:ext cx="256032" cy="256032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7033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출석·결석 상태 즉시 수정 &amp; 재저장 가능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96012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960120"/>
            <a:ext cx="4114800" cy="50292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005840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출석 통계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00600" y="15361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경로:  MY → 팸 관리 → 출석 통계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1938528"/>
            <a:ext cx="3657600" cy="1143000"/>
          </a:xfrm>
          <a:prstGeom prst="rect">
            <a:avLst/>
          </a:prstGeom>
          <a:solidFill>
            <a:srgbClr val="EB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0299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팸 전체 평균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23774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예배 출석률 / 팸 출석률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3310128"/>
            <a:ext cx="3657600" cy="1143000"/>
          </a:xfrm>
          <a:prstGeom prst="rect">
            <a:avLst/>
          </a:prstGeom>
          <a:solidFill>
            <a:srgbClr val="E8F5E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4015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팸원별 통계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37760" y="37490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개인별 예배 · 팸 출석률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4572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연도 선택으로 연간 통계 조회 가능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AB00"/>
          </a:solidFill>
          <a:ln w="12700">
            <a:solidFill>
              <a:srgbClr val="F9A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2286000" cy="384048"/>
          </a:xfrm>
          <a:prstGeom prst="rect">
            <a:avLst/>
          </a:prstGeom>
          <a:solidFill>
            <a:srgbClr val="F9AB00"/>
          </a:solidFill>
          <a:ln w="12700">
            <a:solidFill>
              <a:srgbClr val="F9A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</a:rPr>
              <a:t>마을장 / 교역자 전용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926080" y="182880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🏛  상위 권한 기능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3977640" cy="3886200"/>
          </a:xfrm>
          <a:prstGeom prst="rect">
            <a:avLst/>
          </a:prstGeom>
          <a:solidFill>
            <a:srgbClr val="1E3A5F"/>
          </a:solidFill>
          <a:ln w="12700">
            <a:solidFill>
              <a:srgbClr val="2D50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60120"/>
            <a:ext cx="3977640" cy="502920"/>
          </a:xfrm>
          <a:prstGeom prst="rect">
            <a:avLst/>
          </a:prstGeom>
          <a:solidFill>
            <a:srgbClr val="1A6B38"/>
          </a:solidFill>
          <a:ln w="12700">
            <a:solidFill>
              <a:srgbClr val="1A6B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05840"/>
            <a:ext cx="3703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마을장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1600200"/>
            <a:ext cx="256032" cy="256032"/>
          </a:xfrm>
          <a:prstGeom prst="ellipse">
            <a:avLst/>
          </a:prstGeom>
          <a:solidFill>
            <a:srgbClr val="1A6B38"/>
          </a:solidFill>
          <a:ln w="12700">
            <a:solidFill>
              <a:srgbClr val="1A6B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58191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마을 내 팸원 역할 변경 (팸원 ↔ 리더)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258568"/>
            <a:ext cx="256032" cy="256032"/>
          </a:xfrm>
          <a:prstGeom prst="ellipse">
            <a:avLst/>
          </a:prstGeom>
          <a:solidFill>
            <a:srgbClr val="1A6B38"/>
          </a:solidFill>
          <a:ln w="12700">
            <a:solidFill>
              <a:srgbClr val="1A6B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240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마을 전체 팸 출석 현황 파악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2916936"/>
            <a:ext cx="256032" cy="256032"/>
          </a:xfrm>
          <a:prstGeom prst="ellipse">
            <a:avLst/>
          </a:prstGeom>
          <a:solidFill>
            <a:srgbClr val="1A6B38"/>
          </a:solidFill>
          <a:ln w="12700">
            <a:solidFill>
              <a:srgbClr val="1A6B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89864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팸원 정보 수정 가능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960120"/>
            <a:ext cx="4389120" cy="3886200"/>
          </a:xfrm>
          <a:prstGeom prst="rect">
            <a:avLst/>
          </a:prstGeom>
          <a:solidFill>
            <a:srgbClr val="1E3A5F"/>
          </a:solidFill>
          <a:ln w="12700">
            <a:solidFill>
              <a:srgbClr val="2D508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960120"/>
            <a:ext cx="4389120" cy="50292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005840"/>
            <a:ext cx="4114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교역자 / 관리자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983480" y="1600200"/>
            <a:ext cx="256032" cy="256032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9240" y="1581912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미배정 멤버 관리 (팸 배정/변경)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83480" y="2258568"/>
            <a:ext cx="256032" cy="256032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9240" y="224028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사역팀 관리 (팀장 위임, 팀명 변경)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83480" y="2916936"/>
            <a:ext cx="256032" cy="256032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9240" y="2898648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출석 통계 조회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83480" y="3575304"/>
            <a:ext cx="256032" cy="256032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49240" y="3557016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공지 작성 / 수정 / 삭제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1480" y="4709160"/>
            <a:ext cx="8321040" cy="246888"/>
          </a:xfrm>
          <a:prstGeom prst="rect">
            <a:avLst/>
          </a:prstGeom>
          <a:solidFill>
            <a:srgbClr val="162238"/>
          </a:solidFill>
          <a:ln w="12700">
            <a:solidFill>
              <a:srgbClr val="1622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727448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권한이 없는 기능은 자동으로 접근이 제한됩니다.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73152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0"/>
            <a:ext cx="2286000" cy="73152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0"/>
            <a:ext cx="2286000" cy="73152"/>
          </a:xfrm>
          <a:prstGeom prst="rect">
            <a:avLst/>
          </a:prstGeom>
          <a:solidFill>
            <a:srgbClr val="F9AB00"/>
          </a:solidFill>
          <a:ln w="12700">
            <a:solidFill>
              <a:srgbClr val="F9AB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0"/>
            <a:ext cx="2286000" cy="73152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전체 기능 요약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11480" y="1143000"/>
            <a:ext cx="4114800" cy="1554480"/>
          </a:xfrm>
          <a:prstGeom prst="rect">
            <a:avLst/>
          </a:prstGeom>
          <a:solidFill>
            <a:srgbClr val="1E3A5F"/>
          </a:solidFill>
          <a:ln w="12700">
            <a:solidFill>
              <a:srgbClr val="2D508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143000"/>
            <a:ext cx="4114800" cy="54864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2527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사용자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6459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홈 / 공지 / 기도제목 / MY 확인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19933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출석 체크 &amp; 저장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1143000"/>
            <a:ext cx="4114800" cy="1554480"/>
          </a:xfrm>
          <a:prstGeom prst="rect">
            <a:avLst/>
          </a:prstGeom>
          <a:solidFill>
            <a:srgbClr val="1E3A5F"/>
          </a:solidFill>
          <a:ln w="12700">
            <a:solidFill>
              <a:srgbClr val="2D508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143000"/>
            <a:ext cx="4114800" cy="54864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2527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리더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16459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내 팸 관리 (팸원 정보/추가)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83480" y="19933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출석 이력표 &amp; 통계 조회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234086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내 사역팀 팀원 확인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2880360"/>
            <a:ext cx="4114800" cy="1554480"/>
          </a:xfrm>
          <a:prstGeom prst="rect">
            <a:avLst/>
          </a:prstGeom>
          <a:solidFill>
            <a:srgbClr val="1E3A5F"/>
          </a:solidFill>
          <a:ln w="12700">
            <a:solidFill>
              <a:srgbClr val="2D508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880360"/>
            <a:ext cx="4114800" cy="54864"/>
          </a:xfrm>
          <a:prstGeom prst="rect">
            <a:avLst/>
          </a:prstGeom>
          <a:solidFill>
            <a:srgbClr val="F9AB00"/>
          </a:solidFill>
          <a:ln w="12700">
            <a:solidFill>
              <a:srgbClr val="F9AB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9900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마을장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3383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역할 변경 (팸원 ↔ 리더)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37307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마을 전체 현황 파악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2880360"/>
            <a:ext cx="4114800" cy="1554480"/>
          </a:xfrm>
          <a:prstGeom prst="rect">
            <a:avLst/>
          </a:prstGeom>
          <a:solidFill>
            <a:srgbClr val="1E3A5F"/>
          </a:solidFill>
          <a:ln w="12700">
            <a:solidFill>
              <a:srgbClr val="2D508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2880360"/>
            <a:ext cx="4114800" cy="54864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9900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교역자/관리자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83480" y="3383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미배정 팸원 관리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83480" y="37307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사역팀 위임/팀명변경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40782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전체 출석 통계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4663440"/>
            <a:ext cx="8321040" cy="320040"/>
          </a:xfrm>
          <a:prstGeom prst="rect">
            <a:avLst/>
          </a:prstGeom>
          <a:solidFill>
            <a:srgbClr val="162238"/>
          </a:solidFill>
          <a:ln w="12700">
            <a:solidFill>
              <a:srgbClr val="1622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70916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궁금한 점은 언제든지 질문해주세요! 🙌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JOY HILL 앱 사용 가이드</dc:title>
  <dc:subject>PptxGenJS Presentation</dc:subject>
  <dc:creator>PptxGenJS</dc:creator>
  <cp:lastModifiedBy>PptxGenJS</cp:lastModifiedBy>
  <cp:revision>1</cp:revision>
  <dcterms:created xsi:type="dcterms:W3CDTF">2026-04-17T10:39:32Z</dcterms:created>
  <dcterms:modified xsi:type="dcterms:W3CDTF">2026-04-17T10:39:32Z</dcterms:modified>
</cp:coreProperties>
</file>